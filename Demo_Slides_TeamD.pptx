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71800"/>
            <a:ext cx="12188952" cy="54864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6E8F7"/>
                </a:solidFill>
                <a:latin typeface="Calibri"/>
              </a:rPr>
              <a:t>COMP 333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7772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End-to-End Data
Analytics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8036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6E8F7"/>
                </a:solidFill>
                <a:latin typeface="Calibri"/>
              </a:rPr>
              <a:t>NYC Yellow Taxi Trip Records — Jun &amp; Jul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Ronnie Chan (27206003)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87368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Patrice Gallant (40301020)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62856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Nesrine Larbi (40079009)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218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8F7"/>
                </a:solidFill>
                <a:latin typeface="Calibri"/>
              </a:rPr>
              <a:t>Concordia University · April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0058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A020"/>
                </a:solidFill>
                <a:latin typeface="Calibri"/>
              </a:rPr>
              <a:t>5-min Demo Plan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508760"/>
            <a:ext cx="960120" cy="5029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08760"/>
            <a:ext cx="960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A5C"/>
                </a:solidFill>
                <a:latin typeface="Calibri"/>
              </a:rPr>
              <a:t>0:00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150876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Dataset &amp; RQs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221991"/>
            <a:ext cx="96012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221991"/>
            <a:ext cx="960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A020"/>
                </a:solidFill>
                <a:latin typeface="Calibri"/>
              </a:rPr>
              <a:t>1:00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221991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Pipeline + Features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935224"/>
            <a:ext cx="96012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935224"/>
            <a:ext cx="960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A020"/>
                </a:solidFill>
                <a:latin typeface="Calibri"/>
              </a:rPr>
              <a:t>2:00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935224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RQ1 — Supervised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3648456"/>
            <a:ext cx="96012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3648456"/>
            <a:ext cx="960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A020"/>
                </a:solidFill>
                <a:latin typeface="Calibri"/>
              </a:rPr>
              <a:t>3:10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648456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RQ2 — Unsupervised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361688"/>
            <a:ext cx="96012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4361688"/>
            <a:ext cx="960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A020"/>
                </a:solidFill>
                <a:latin typeface="Calibri"/>
              </a:rPr>
              <a:t>4:20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4361688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Insights &amp; Ethics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5074920"/>
            <a:ext cx="96012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5074920"/>
            <a:ext cx="960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A020"/>
                </a:solidFill>
                <a:latin typeface="Calibri"/>
              </a:rPr>
              <a:t>4:55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507492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Q&amp;A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73152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COMP 333 — End-to-End Data Analytics Pipeline · NYC Yellow Taxi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73152"/>
            <a:ext cx="1417320" cy="420624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73152"/>
            <a:ext cx="1417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5C"/>
                </a:solidFill>
                <a:latin typeface="Calibri"/>
              </a:rPr>
              <a:t>0:00 – 1:00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9672"/>
            <a:ext cx="1179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E8F7"/>
                </a:solidFill>
                <a:latin typeface="Calibri"/>
              </a:rPr>
              <a:t>Ronnie Chan · Patrice Gallant · Nesrine Larbi   |   Concordia University ·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94944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3A5C"/>
                </a:solidFill>
                <a:latin typeface="Calibri"/>
              </a:rPr>
              <a:t>Dataset &amp; Research Questions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11365992" cy="3657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417320"/>
            <a:ext cx="5440680" cy="4800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417320"/>
            <a:ext cx="5440680" cy="40233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4447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Dataset at a Glance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920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6DA4"/>
                </a:solidFill>
                <a:latin typeface="Calibri"/>
              </a:rPr>
              <a:t>Source: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19202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NYC TLC — Yellow Taxi Trip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49631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6DA4"/>
                </a:solidFill>
                <a:latin typeface="Calibri"/>
              </a:rPr>
              <a:t>Period: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49631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June &amp; July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7238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6DA4"/>
                </a:solidFill>
                <a:latin typeface="Calibri"/>
              </a:rPr>
              <a:t>Volume: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07238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~7.3 M trips · 1.4+ GB (Parquet)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6484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6DA4"/>
                </a:solidFill>
                <a:latin typeface="Calibri"/>
              </a:rPr>
              <a:t>Extra: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64845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NYC Hourly Weather via Open-Meteo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2245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6DA4"/>
                </a:solidFill>
                <a:latin typeface="Calibri"/>
              </a:rPr>
              <a:t>Features: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22452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14 clean features after wrangling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800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6DA4"/>
                </a:solidFill>
                <a:latin typeface="Calibri"/>
              </a:rPr>
              <a:t>Tools: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8006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Google Colab · pandas · scikit-learn · XGBoost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417320"/>
            <a:ext cx="5623560" cy="233172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1417320"/>
            <a:ext cx="5623560" cy="40233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145389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RQ1 — Supervised Classification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1929384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  <a:latin typeface="Calibri"/>
              </a:rPr>
              <a:t>Can we classify a high-tipper based on trip features, rate code &amp; weather?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2834640"/>
            <a:ext cx="5440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880360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6DA4"/>
                </a:solidFill>
                <a:latin typeface="Calibri"/>
              </a:rPr>
              <a:t>Target: is_high_tip (tip ≥ 20 % of fare)  ·  Models: Random Forest, XGBoost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3977639"/>
            <a:ext cx="5623560" cy="233172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3977639"/>
            <a:ext cx="5623560" cy="40233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4014215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RQ2 — Unsupervised Clustering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489704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  <a:latin typeface="Calibri"/>
              </a:rPr>
              <a:t>Can we identify distinct natural clusters of trips based on temporal &amp; financial features?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5394959"/>
            <a:ext cx="5440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5440679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6DA4"/>
                </a:solidFill>
                <a:latin typeface="Calibri"/>
              </a:rPr>
              <a:t>Method: PCA  +  MiniBatch K-Means  (k = 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73152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COMP 333 — End-to-End Data Analytics Pipeline · NYC Yellow Taxi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73152"/>
            <a:ext cx="1417320" cy="420624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73152"/>
            <a:ext cx="1417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5C"/>
                </a:solidFill>
                <a:latin typeface="Calibri"/>
              </a:rPr>
              <a:t>1:00 – 2:00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9672"/>
            <a:ext cx="1179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E8F7"/>
                </a:solidFill>
                <a:latin typeface="Calibri"/>
              </a:rPr>
              <a:t>Ronnie Chan · Patrice Gallant · Nesrine Larbi   |   Concordia University ·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94944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3A5C"/>
                </a:solidFill>
                <a:latin typeface="Calibri"/>
              </a:rPr>
              <a:t>Pipeline Architecture &amp; Feature Engineering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11365992" cy="3657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" y="1444752"/>
            <a:ext cx="1719072" cy="1234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" y="1444752"/>
            <a:ext cx="1719072" cy="38404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" y="1472184"/>
            <a:ext cx="16093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
Acquisition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75687" y="1856232"/>
            <a:ext cx="21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6DA4"/>
                </a:solidFill>
                <a:latin typeface="Calibri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21991" y="1444752"/>
            <a:ext cx="1719072" cy="1234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21991" y="1444752"/>
            <a:ext cx="1719072" cy="38404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76856" y="1472184"/>
            <a:ext cx="16093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Wrangling
&amp; EDA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207" y="1856232"/>
            <a:ext cx="21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6DA4"/>
                </a:solidFill>
                <a:latin typeface="Calibri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96511" y="1444752"/>
            <a:ext cx="1719072" cy="1234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96511" y="1444752"/>
            <a:ext cx="1719072" cy="38404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51375" y="1472184"/>
            <a:ext cx="16093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Feature
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24727" y="1856232"/>
            <a:ext cx="21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6DA4"/>
                </a:solidFill>
                <a:latin typeface="Calibri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71031" y="1444752"/>
            <a:ext cx="1719072" cy="1234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71031" y="1444752"/>
            <a:ext cx="1719072" cy="38404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25895" y="1472184"/>
            <a:ext cx="16093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Supervised
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248" y="1856232"/>
            <a:ext cx="21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6DA4"/>
                </a:solidFill>
                <a:latin typeface="Calibri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45552" y="1444752"/>
            <a:ext cx="1719072" cy="1234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45552" y="1444752"/>
            <a:ext cx="1719072" cy="38404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0416" y="1472184"/>
            <a:ext cx="16093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Unsupervised
Learning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73768" y="1856232"/>
            <a:ext cx="21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6DA4"/>
                </a:solidFill>
                <a:latin typeface="Calibri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20072" y="1444752"/>
            <a:ext cx="1719072" cy="1234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20072" y="1444752"/>
            <a:ext cx="1719072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74936" y="1472184"/>
            <a:ext cx="16093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Insights
&amp; Report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" y="2770632"/>
            <a:ext cx="2834640" cy="384048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7472" y="2770632"/>
            <a:ext cx="64008" cy="38404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2798064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  <a:latin typeface="Calibri"/>
              </a:rPr>
              <a:t>Modular functions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19272" y="2770632"/>
            <a:ext cx="2834640" cy="384048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319272" y="2770632"/>
            <a:ext cx="64008" cy="38404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47288" y="2798064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  <a:latin typeface="Calibri"/>
              </a:rPr>
              <a:t>Error handling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91072" y="2770632"/>
            <a:ext cx="2834640" cy="384048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91072" y="2770632"/>
            <a:ext cx="64008" cy="38404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19088" y="2798064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  <a:latin typeface="Calibri"/>
              </a:rPr>
              <a:t>Reproducible on new data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62872" y="2770632"/>
            <a:ext cx="2834640" cy="384048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62872" y="2770632"/>
            <a:ext cx="64008" cy="38404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90888" y="2798064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  <a:latin typeface="Calibri"/>
              </a:rPr>
              <a:t>Memory-efficient (dtype + GC)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" y="3063240"/>
            <a:ext cx="11494008" cy="36576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" y="3154680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Feature Engineering — 30 features → 12 FINAL_FEATURES (no leakage)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7472" y="3611880"/>
            <a:ext cx="283464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47472" y="3611880"/>
            <a:ext cx="2834640" cy="3657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" y="363016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Transforms &amp; Cyclical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12" y="4059936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log_trip_distance · log_fare_amount
pickup_hour_sin/cos · pickup_day_sin/cos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19272" y="3611880"/>
            <a:ext cx="283464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319272" y="3611880"/>
            <a:ext cx="2834640" cy="3657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10712" y="363016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Domain Flags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10712" y="4059936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is_rush_hour · is_airport
is_credit_card · fare_per_mile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91072" y="3611880"/>
            <a:ext cx="283464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91072" y="3611880"/>
            <a:ext cx="2834640" cy="3657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82512" y="363016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Polynomial / Interaction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82512" y="4059936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trip_distance²
distance×passengers · temp×precip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62872" y="3611880"/>
            <a:ext cx="283464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262872" y="3611880"/>
            <a:ext cx="283464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54312" y="363016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Selection Funnel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54312" y="4059936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Filter (corr.) → Embedded (RF)
→ Wrapper (RFE) → 12 features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7472" y="623620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392B"/>
                </a:solidFill>
                <a:latin typeface="Calibri"/>
              </a:rPr>
              <a:t>Excluded (leakage): tip_amount · total_amount · tip_ratio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73152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COMP 333 — End-to-End Data Analytics Pipeline · NYC Yellow Taxi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73152"/>
            <a:ext cx="1417320" cy="420624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73152"/>
            <a:ext cx="1417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5C"/>
                </a:solidFill>
                <a:latin typeface="Calibri"/>
              </a:rPr>
              <a:t>2:00 – 3:10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9672"/>
            <a:ext cx="1179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E8F7"/>
                </a:solidFill>
                <a:latin typeface="Calibri"/>
              </a:rPr>
              <a:t>Ronnie Chan · Patrice Gallant · Nesrine Larbi   |   Concordia University ·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94944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3A5C"/>
                </a:solidFill>
                <a:latin typeface="Calibri"/>
              </a:rPr>
              <a:t>RQ1 — Supervised Classification 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11365992" cy="3657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417320"/>
            <a:ext cx="690372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4447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4447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144475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XGBoost  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801368"/>
            <a:ext cx="283464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1856231"/>
            <a:ext cx="2706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44"/>
                </a:solidFill>
                <a:latin typeface="Calibri"/>
              </a:rPr>
              <a:t>CV / Val F1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1801368"/>
            <a:ext cx="201168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64408" y="1856231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0.8637 / 0.8636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80" y="1801368"/>
            <a:ext cx="2057400" cy="438912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76088" y="1856231"/>
            <a:ext cx="1929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A5C"/>
                </a:solidFill>
                <a:latin typeface="Calibri"/>
              </a:rPr>
              <a:t>0.8637 / 0.8636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276856"/>
            <a:ext cx="28346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2331720"/>
            <a:ext cx="2706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44"/>
                </a:solidFill>
                <a:latin typeface="Calibri"/>
              </a:rPr>
              <a:t>Test Accuracy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2276856"/>
            <a:ext cx="2011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64408" y="2331720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0.77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80" y="2276856"/>
            <a:ext cx="2057400" cy="438912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76088" y="2331720"/>
            <a:ext cx="1929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A5C"/>
                </a:solidFill>
                <a:latin typeface="Calibri"/>
              </a:rPr>
              <a:t>0.77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752344"/>
            <a:ext cx="283464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2807208"/>
            <a:ext cx="2706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44"/>
                </a:solidFill>
                <a:latin typeface="Calibri"/>
              </a:rPr>
              <a:t>Recall High-Tip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2752344"/>
            <a:ext cx="201168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64408" y="2807208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1.00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0" y="2752344"/>
            <a:ext cx="2057400" cy="438912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76088" y="2807208"/>
            <a:ext cx="1929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A5C"/>
                </a:solidFill>
                <a:latin typeface="Calibri"/>
              </a:rPr>
              <a:t>1.00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227832"/>
            <a:ext cx="28346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" y="3282696"/>
            <a:ext cx="2706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44"/>
                </a:solidFill>
                <a:latin typeface="Calibri"/>
              </a:rPr>
              <a:t>Recall Low-Tip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3227832"/>
            <a:ext cx="2011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64408" y="3282696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0.08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12080" y="3227832"/>
            <a:ext cx="2057400" cy="438912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76088" y="3282696"/>
            <a:ext cx="1929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A5C"/>
                </a:solidFill>
                <a:latin typeface="Calibri"/>
              </a:rPr>
              <a:t>0.08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703320"/>
            <a:ext cx="283464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" y="3758183"/>
            <a:ext cx="2706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44"/>
                </a:solidFill>
                <a:latin typeface="Calibri"/>
              </a:rPr>
              <a:t>AUC-ROC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0" y="3703320"/>
            <a:ext cx="201168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64408" y="3758183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0.6293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12080" y="3703320"/>
            <a:ext cx="2057400" cy="438912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76088" y="3758183"/>
            <a:ext cx="1929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A5C"/>
                </a:solidFill>
                <a:latin typeface="Calibri"/>
              </a:rPr>
              <a:t>0.6302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178808"/>
            <a:ext cx="28346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" y="4233672"/>
            <a:ext cx="2706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44"/>
                </a:solidFill>
                <a:latin typeface="Calibri"/>
              </a:rPr>
              <a:t>Train Time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0" y="4178808"/>
            <a:ext cx="2011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64408" y="4233672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~250 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12080" y="4178808"/>
            <a:ext cx="2057400" cy="438912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76088" y="4233672"/>
            <a:ext cx="1929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A5C"/>
                </a:solidFill>
                <a:latin typeface="Calibri"/>
              </a:rPr>
              <a:t>~150 s  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4663440"/>
            <a:ext cx="6903720" cy="54864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65760" y="4754880"/>
            <a:ext cx="6903720" cy="512064"/>
          </a:xfrm>
          <a:prstGeom prst="rect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4791456"/>
            <a:ext cx="6583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A020"/>
                </a:solidFill>
                <a:latin typeface="Calibri"/>
              </a:rPr>
              <a:t>XGBoost selected — marginally higher AUC + 40 % faster training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35240" y="1417320"/>
            <a:ext cx="4206240" cy="384048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35240" y="1417320"/>
            <a:ext cx="4206240" cy="38404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0" y="1444752"/>
            <a:ext cx="3977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0" y="1920240"/>
            <a:ext cx="64008" cy="5486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00416" y="1956816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Top features: fare_amount, improvement_surcharge, congestion_surcharge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72400" y="2670048"/>
            <a:ext cx="64008" cy="5486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00416" y="2706624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Tipping driven by payment structure — NOT weather or time of day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72400" y="3419856"/>
            <a:ext cx="64008" cy="5486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00416" y="345643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Class imbalance 75/25 → Low-Tip recall only 0.08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72400" y="4169664"/>
            <a:ext cx="64008" cy="5486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900416" y="4206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1 M stratified credit-card records · 70/15/15 split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35240" y="5120640"/>
            <a:ext cx="4206240" cy="804672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72400" y="5148072"/>
            <a:ext cx="39776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Action: deploy as real-time dispatch scorer
to flag high-tip trips for drivers.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73152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COMP 333 — End-to-End Data Analytics Pipeline · NYC Yellow Taxi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73152"/>
            <a:ext cx="1417320" cy="420624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73152"/>
            <a:ext cx="1417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5C"/>
                </a:solidFill>
                <a:latin typeface="Calibri"/>
              </a:rPr>
              <a:t>3:10 – 4:20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9672"/>
            <a:ext cx="1179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E8F7"/>
                </a:solidFill>
                <a:latin typeface="Calibri"/>
              </a:rPr>
              <a:t>Ronnie Chan · Patrice Gallant · Nesrine Larbi   |   Concordia University ·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94944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3A5C"/>
                </a:solidFill>
                <a:latin typeface="Calibri"/>
              </a:rPr>
              <a:t>RQ2 — Unsupervised Clustering 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11365992" cy="3657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417320"/>
            <a:ext cx="11430000" cy="4572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4475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A5C"/>
                </a:solidFill>
                <a:latin typeface="Calibri"/>
              </a:rPr>
              <a:t>PCA: 8 features → 6 PCs (≈90 % variance)   |   Elbow → k = 7   |   MiniBatch K-Means on ~7 M rows   |   Silhouette = 0.18   ·   DB = 1.35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65960"/>
            <a:ext cx="1143000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9933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993392"/>
            <a:ext cx="14173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Label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1993392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Key Characteristic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199339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Actionable Strategy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350008"/>
            <a:ext cx="5943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2404872"/>
            <a:ext cx="466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2350008"/>
            <a:ext cx="15087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2404872"/>
            <a:ext cx="138074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DA4"/>
                </a:solidFill>
                <a:latin typeface="Calibri"/>
              </a:rPr>
              <a:t>Long Trip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2350008"/>
            <a:ext cx="37947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32888" y="2404872"/>
            <a:ext cx="3666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Highest mean distance — airport / inter-borough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350008"/>
            <a:ext cx="51663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7648" y="2404872"/>
            <a:ext cx="5038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Premium pricing · pre-position near JFK/LGA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980944"/>
            <a:ext cx="59436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" y="3035808"/>
            <a:ext cx="466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1–2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" y="2980944"/>
            <a:ext cx="150876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3035808"/>
            <a:ext cx="138074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DA4"/>
                </a:solidFill>
                <a:latin typeface="Calibri"/>
              </a:rPr>
              <a:t>Short Trip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68880" y="2980944"/>
            <a:ext cx="379476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32888" y="3035808"/>
            <a:ext cx="3666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Low distance; likely artefact of k-choice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980944"/>
            <a:ext cx="516636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3035808"/>
            <a:ext cx="5038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Investigate merging to sharpen short-trip targeting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611879"/>
            <a:ext cx="5943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" y="3666744"/>
            <a:ext cx="466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" y="3611879"/>
            <a:ext cx="15087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3666744"/>
            <a:ext cx="138074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DA4"/>
                </a:solidFill>
                <a:latin typeface="Calibri"/>
              </a:rPr>
              <a:t>Medium Trip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68880" y="3611879"/>
            <a:ext cx="37947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32888" y="3666744"/>
            <a:ext cx="3666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Mid-range distance; no strong secondary feature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3611879"/>
            <a:ext cx="51663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27648" y="3666744"/>
            <a:ext cx="5038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Standard base-fare offers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242816"/>
            <a:ext cx="59436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9768" y="4297679"/>
            <a:ext cx="466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0120" y="4242816"/>
            <a:ext cx="150876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4128" y="4297679"/>
            <a:ext cx="138074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DA4"/>
                </a:solidFill>
                <a:latin typeface="Calibri"/>
              </a:rPr>
              <a:t>Weather-Impacted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68880" y="4242816"/>
            <a:ext cx="379476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32888" y="4297679"/>
            <a:ext cx="3666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Very high mean precipitation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4242816"/>
            <a:ext cx="516636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27648" y="4297679"/>
            <a:ext cx="5038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Dynamic surge pricing during rain events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873752"/>
            <a:ext cx="5943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9768" y="4928616"/>
            <a:ext cx="466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0120" y="4873752"/>
            <a:ext cx="15087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4128" y="4928616"/>
            <a:ext cx="138074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DA4"/>
                </a:solidFill>
                <a:latin typeface="Calibri"/>
              </a:rPr>
              <a:t>Peak Morning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68880" y="4873752"/>
            <a:ext cx="37947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32888" y="4928616"/>
            <a:ext cx="3666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Lowest mean pickup hour — commuter segment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63640" y="4873752"/>
            <a:ext cx="51663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27648" y="4928616"/>
            <a:ext cx="5038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Pre-position in business districts before 08:00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5504688"/>
            <a:ext cx="59436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9768" y="5559551"/>
            <a:ext cx="466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60120" y="5504688"/>
            <a:ext cx="150876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24128" y="5559551"/>
            <a:ext cx="138074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DA4"/>
                </a:solidFill>
                <a:latin typeface="Calibri"/>
              </a:rPr>
              <a:t>High-Occupancy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468880" y="5504688"/>
            <a:ext cx="379476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532888" y="5559551"/>
            <a:ext cx="3666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Highest mean passenger count — group trips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63640" y="5504688"/>
            <a:ext cx="516636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27648" y="5559551"/>
            <a:ext cx="5038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Group-ride promotions to raise revenue / vehicle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6163056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  <a:latin typeface="Calibri"/>
              </a:rPr>
              <a:t>Silhouette 0.18 is typical for high-dimensional real-world behavioural data — clusters are interpretable without tight separation.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73152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COMP 333 — End-to-End Data Analytics Pipeline · NYC Yellow Taxi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73152"/>
            <a:ext cx="1417320" cy="420624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73152"/>
            <a:ext cx="1417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5C"/>
                </a:solidFill>
                <a:latin typeface="Calibri"/>
              </a:rPr>
              <a:t>4:20 – 5:00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9672"/>
            <a:ext cx="1179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E8F7"/>
                </a:solidFill>
                <a:latin typeface="Calibri"/>
              </a:rPr>
              <a:t>Ronnie Chan · Patrice Gallant · Nesrine Larbi   |   Concordia University ·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94944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3A5C"/>
                </a:solidFill>
                <a:latin typeface="Calibri"/>
              </a:rPr>
              <a:t>Insights, Ethics &amp; Future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11365992" cy="3657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444752"/>
            <a:ext cx="109728" cy="105156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" y="1444752"/>
            <a:ext cx="621792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4996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A020"/>
                </a:solidFill>
                <a:latin typeface="Calibri"/>
              </a:rPr>
              <a:t>RQ1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865376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XGBoost 77 % acc · AUC 0.63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1536192"/>
            <a:ext cx="3474720" cy="86868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1563624"/>
            <a:ext cx="3291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  <a:latin typeface="Calibri"/>
              </a:rPr>
              <a:t>▶ Deploy real-time tip-scorer in dispatch app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633472"/>
            <a:ext cx="109728" cy="10515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" y="2633472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6883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DA4"/>
                </a:solidFill>
                <a:latin typeface="Calibri"/>
              </a:rPr>
              <a:t>RQ2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054096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7 clusters · clear archetypes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2724912"/>
            <a:ext cx="3474720" cy="86868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2752344"/>
            <a:ext cx="3291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  <a:latin typeface="Calibri"/>
              </a:rPr>
              <a:t>▶ Surge (rain) · AM pre-positioning · group promos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822191"/>
            <a:ext cx="109728" cy="1051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" y="3822191"/>
            <a:ext cx="621792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877055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Limitation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242816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Class imbalance 75/25 · AUC 0.63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3720" y="3913631"/>
            <a:ext cx="3474720" cy="86868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3941063"/>
            <a:ext cx="3291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  <a:latin typeface="Calibri"/>
              </a:rPr>
              <a:t>▶ Apply SMOTE + cost-sensitive training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010912"/>
            <a:ext cx="109728" cy="10515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8" y="5010912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06577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Scalability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431536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1.4 GB in Colab via memory tricks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5102352"/>
            <a:ext cx="3474720" cy="86868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60" y="5129784"/>
            <a:ext cx="3291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  <a:latin typeface="Calibri"/>
              </a:rPr>
              <a:t>▶ Migrate to cloud for monthly retraining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561320" y="1444752"/>
            <a:ext cx="1280160" cy="470916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561320" y="1444752"/>
            <a:ext cx="1280160" cy="38404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07040" y="1472184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Ethics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07040" y="1920240"/>
            <a:ext cx="64008" cy="64008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16768" y="1938528"/>
            <a:ext cx="1051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Cash riders excluded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07040" y="2770632"/>
            <a:ext cx="64008" cy="64008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16768" y="2788920"/>
            <a:ext cx="1051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Surge pricing fairness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07040" y="3621024"/>
            <a:ext cx="64008" cy="64008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16768" y="3639312"/>
            <a:ext cx="1051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No PII stored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07040" y="4471416"/>
            <a:ext cx="64008" cy="64008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16768" y="4489704"/>
            <a:ext cx="1051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Seasonal generalisability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607040" y="5321808"/>
            <a:ext cx="64008" cy="64008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716768" y="5340096"/>
            <a:ext cx="1051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Clusters may shift monthly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989320"/>
            <a:ext cx="10168128" cy="5669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6025896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