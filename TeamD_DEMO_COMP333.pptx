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6a5b02c20_0_20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6a5b02c20_0_20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6a5b02c20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d6a5b02c20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6a5b02c2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6a5b02c2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c6f9e470d_0_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c6f9e470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6a5b02c20_0_2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6a5b02c20_0_2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6a5b02c20_0_2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d6a5b02c20_0_2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c6f9e470d_0_1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c6f9e470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96727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End-to-End Analytics Pipeline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NYC Taxi Trip Records (June-July 2025)</a:t>
            </a:r>
            <a:endParaRPr sz="1600"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100" y="3096500"/>
            <a:ext cx="8222100" cy="18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Team D:</a:t>
            </a:r>
            <a:endParaRPr b="1" sz="1500"/>
          </a:p>
          <a:p>
            <a:pPr indent="-260350" lvl="0" marL="28575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Ronnie Chan (27206003) </a:t>
            </a:r>
            <a:endParaRPr sz="1400"/>
          </a:p>
          <a:p>
            <a:pPr indent="-260350" lvl="0" marL="28575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Patrice Gallant (40301020) </a:t>
            </a:r>
            <a:endParaRPr sz="1400"/>
          </a:p>
          <a:p>
            <a:pPr indent="-260350" lvl="0" marL="28575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Nesrine Larbi (40079009)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COMP 333  |  Concordia University  |  April 2026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" name="Google Shape;87;p13"/>
          <p:cNvCxnSpPr>
            <a:stCxn id="85" idx="1"/>
          </p:cNvCxnSpPr>
          <p:nvPr/>
        </p:nvCxnSpPr>
        <p:spPr>
          <a:xfrm>
            <a:off x="598100" y="2386672"/>
            <a:ext cx="82221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End-to-End Analytics Pipeline</a:t>
            </a:r>
            <a:endParaRPr sz="4000"/>
          </a:p>
        </p:txBody>
      </p:sp>
      <p:cxnSp>
        <p:nvCxnSpPr>
          <p:cNvPr id="93" name="Google Shape;93;p14"/>
          <p:cNvCxnSpPr/>
          <p:nvPr/>
        </p:nvCxnSpPr>
        <p:spPr>
          <a:xfrm>
            <a:off x="1299277" y="1697226"/>
            <a:ext cx="718500" cy="741900"/>
          </a:xfrm>
          <a:prstGeom prst="straightConnector1">
            <a:avLst/>
          </a:prstGeom>
          <a:noFill/>
          <a:ln cap="flat" cmpd="sng" w="9525">
            <a:solidFill>
              <a:srgbClr val="0D5C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14"/>
          <p:cNvSpPr/>
          <p:nvPr/>
        </p:nvSpPr>
        <p:spPr>
          <a:xfrm flipH="1">
            <a:off x="618820" y="2308430"/>
            <a:ext cx="1418100" cy="143400"/>
          </a:xfrm>
          <a:prstGeom prst="parallelogram">
            <a:avLst>
              <a:gd fmla="val 96952" name="adj"/>
            </a:avLst>
          </a:prstGeom>
          <a:solidFill>
            <a:srgbClr val="0D5C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619055" y="2462255"/>
            <a:ext cx="1418100" cy="143400"/>
          </a:xfrm>
          <a:prstGeom prst="parallelogram">
            <a:avLst>
              <a:gd fmla="val 9695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311700" y="2682100"/>
            <a:ext cx="1471200" cy="157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1778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57D3"/>
              </a:buClr>
              <a:buSzPts val="1000"/>
              <a:buFont typeface="Roboto"/>
              <a:buChar char="●"/>
            </a:pPr>
            <a:r>
              <a:rPr b="1" lang="en" sz="10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rPr>
              <a:t>NYC Yellow Taxi Trip Records    </a:t>
            </a:r>
            <a:r>
              <a:rPr lang="en" sz="8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rPr>
              <a:t>June &amp; July 2025</a:t>
            </a:r>
            <a:endParaRPr sz="800">
              <a:solidFill>
                <a:srgbClr val="0C57D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7800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C57D3"/>
              </a:buClr>
              <a:buSzPts val="1000"/>
              <a:buFont typeface="Roboto"/>
              <a:buChar char="●"/>
            </a:pPr>
            <a:r>
              <a:rPr b="1" lang="en" sz="10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rPr>
              <a:t>NYC Hourly Weather </a:t>
            </a:r>
            <a:r>
              <a:rPr lang="en" sz="8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rPr>
              <a:t>(Open-Meteo API)</a:t>
            </a:r>
            <a:endParaRPr sz="800">
              <a:solidFill>
                <a:srgbClr val="0C57D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C57D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78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57D3"/>
              </a:buClr>
              <a:buSzPts val="1000"/>
              <a:buFont typeface="Roboto"/>
              <a:buChar char="●"/>
            </a:pPr>
            <a:r>
              <a:rPr b="1" lang="en" sz="10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rPr>
              <a:t>Dataset:</a:t>
            </a:r>
            <a:r>
              <a:rPr lang="en" sz="10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rPr>
              <a:t> 1.4+ GB </a:t>
            </a:r>
            <a:endParaRPr sz="1000">
              <a:solidFill>
                <a:srgbClr val="0C57D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-7" y="1575825"/>
            <a:ext cx="13434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rPr>
              <a:t>Data Acquisition</a:t>
            </a:r>
            <a:endParaRPr b="1" sz="1200">
              <a:solidFill>
                <a:srgbClr val="0C57D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98" name="Google Shape;98;p14"/>
          <p:cNvGrpSpPr/>
          <p:nvPr/>
        </p:nvGrpSpPr>
        <p:grpSpPr>
          <a:xfrm>
            <a:off x="1311785" y="1575825"/>
            <a:ext cx="2023622" cy="3529950"/>
            <a:chOff x="1311785" y="1575825"/>
            <a:chExt cx="2023622" cy="3529950"/>
          </a:xfrm>
        </p:grpSpPr>
        <p:cxnSp>
          <p:nvCxnSpPr>
            <p:cNvPr id="99" name="Google Shape;99;p14"/>
            <p:cNvCxnSpPr/>
            <p:nvPr/>
          </p:nvCxnSpPr>
          <p:spPr>
            <a:xfrm>
              <a:off x="2597529" y="1695421"/>
              <a:ext cx="718500" cy="741900"/>
            </a:xfrm>
            <a:prstGeom prst="straightConnector1">
              <a:avLst/>
            </a:prstGeom>
            <a:noFill/>
            <a:ln cap="flat" cmpd="sng" w="9525">
              <a:solidFill>
                <a:srgbClr val="0D5CD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0" name="Google Shape;100;p14"/>
            <p:cNvSpPr/>
            <p:nvPr/>
          </p:nvSpPr>
          <p:spPr>
            <a:xfrm flipH="1">
              <a:off x="1917073" y="2306625"/>
              <a:ext cx="1418100" cy="143400"/>
            </a:xfrm>
            <a:prstGeom prst="parallelogram">
              <a:avLst>
                <a:gd fmla="val 96952" name="adj"/>
              </a:avLst>
            </a:prstGeom>
            <a:solidFill>
              <a:srgbClr val="0D5C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101" name="Google Shape;101;p14"/>
            <p:cNvSpPr/>
            <p:nvPr/>
          </p:nvSpPr>
          <p:spPr>
            <a:xfrm>
              <a:off x="1917307" y="2460450"/>
              <a:ext cx="1418100" cy="143400"/>
            </a:xfrm>
            <a:prstGeom prst="parallelogram">
              <a:avLst>
                <a:gd fmla="val 96952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4"/>
            <p:cNvSpPr txBox="1"/>
            <p:nvPr/>
          </p:nvSpPr>
          <p:spPr>
            <a:xfrm>
              <a:off x="2042700" y="2711775"/>
              <a:ext cx="1167300" cy="239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Initial Audit</a:t>
              </a:r>
              <a:endParaRPr b="1" sz="10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Check Issues</a:t>
              </a:r>
              <a:endParaRPr b="1" sz="10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114300" lvl="0" marL="22860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7D3"/>
                </a:buClr>
                <a:buSzPts val="900"/>
                <a:buFont typeface="Roboto"/>
                <a:buChar char="●"/>
              </a:pPr>
              <a:r>
                <a:rPr lang="en" sz="9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4 duplicates</a:t>
              </a:r>
              <a:endParaRPr sz="9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114300" lvl="0" marL="22860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7D3"/>
                </a:buClr>
                <a:buSzPts val="900"/>
                <a:buFont typeface="Roboto"/>
                <a:buChar char="●"/>
              </a:pPr>
              <a:r>
                <a:rPr lang="en" sz="9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Mirrored</a:t>
              </a:r>
              <a:endParaRPr sz="9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114300" lvl="0" marL="22860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7D3"/>
                </a:buClr>
                <a:buSzPts val="900"/>
                <a:buFont typeface="Roboto"/>
                <a:buChar char="●"/>
              </a:pPr>
              <a:r>
                <a:rPr lang="en" sz="9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NaNs</a:t>
              </a:r>
              <a:endParaRPr sz="9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114300" lvl="0" marL="22860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7D3"/>
                </a:buClr>
                <a:buSzPts val="900"/>
                <a:buFont typeface="Roboto"/>
                <a:buChar char="●"/>
              </a:pPr>
              <a:r>
                <a:rPr lang="en" sz="9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0-passenger</a:t>
              </a:r>
              <a:endParaRPr sz="9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114300" lvl="0" marL="22860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7D3"/>
                </a:buClr>
                <a:buSzPts val="900"/>
                <a:buFont typeface="Roboto"/>
                <a:buChar char="●"/>
              </a:pPr>
              <a:r>
                <a:rPr lang="en" sz="9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0-distance</a:t>
              </a:r>
              <a:endParaRPr sz="9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114300" lvl="0" marL="22860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7D3"/>
                </a:buClr>
                <a:buSzPts val="900"/>
                <a:buFont typeface="Roboto"/>
                <a:buChar char="●"/>
              </a:pPr>
              <a:r>
                <a:rPr lang="en" sz="9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Negative Fares</a:t>
              </a:r>
              <a:endParaRPr sz="9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114300" lvl="0" marL="22860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7D3"/>
                </a:buClr>
                <a:buSzPts val="900"/>
                <a:buFont typeface="Roboto"/>
                <a:buChar char="●"/>
              </a:pPr>
              <a:r>
                <a:rPr lang="en" sz="9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Outliers</a:t>
              </a:r>
              <a:endParaRPr sz="11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Data Cleaning</a:t>
              </a:r>
              <a:endParaRPr b="1" sz="10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highlight>
                    <a:srgbClr val="EFEFE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pd.pipe()</a:t>
              </a:r>
              <a:endParaRPr b="1" sz="1000"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EDA/DDA</a:t>
              </a:r>
              <a:endParaRPr b="1" sz="10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Baseline Model</a:t>
              </a:r>
              <a:endParaRPr b="1" sz="10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3" name="Google Shape;103;p14"/>
            <p:cNvSpPr txBox="1"/>
            <p:nvPr/>
          </p:nvSpPr>
          <p:spPr>
            <a:xfrm>
              <a:off x="1311785" y="1575825"/>
              <a:ext cx="13263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2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Data Wrangling</a:t>
              </a:r>
              <a:endParaRPr b="1" sz="12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4" name="Google Shape;104;p14"/>
          <p:cNvGrpSpPr/>
          <p:nvPr/>
        </p:nvGrpSpPr>
        <p:grpSpPr>
          <a:xfrm>
            <a:off x="2454674" y="1575825"/>
            <a:ext cx="2204101" cy="2593975"/>
            <a:chOff x="2454674" y="1575825"/>
            <a:chExt cx="2204101" cy="2593975"/>
          </a:xfrm>
        </p:grpSpPr>
        <p:cxnSp>
          <p:nvCxnSpPr>
            <p:cNvPr id="105" name="Google Shape;105;p14"/>
            <p:cNvCxnSpPr/>
            <p:nvPr/>
          </p:nvCxnSpPr>
          <p:spPr>
            <a:xfrm>
              <a:off x="3894575" y="1695421"/>
              <a:ext cx="718500" cy="74190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  <a:effectLst>
              <a:reflection blurRad="0" dir="5400000" dist="38100" endA="0" endPos="30000" fadeDir="5400012" kx="0" rotWithShape="0" algn="bl" stPos="0" sy="-100000" ky="0"/>
            </a:effectLst>
          </p:spPr>
        </p:cxnSp>
        <p:sp>
          <p:nvSpPr>
            <p:cNvPr id="106" name="Google Shape;106;p14"/>
            <p:cNvSpPr/>
            <p:nvPr/>
          </p:nvSpPr>
          <p:spPr>
            <a:xfrm flipH="1">
              <a:off x="3214118" y="2306625"/>
              <a:ext cx="1418100" cy="143400"/>
            </a:xfrm>
            <a:prstGeom prst="parallelogram">
              <a:avLst>
                <a:gd fmla="val 96952" name="adj"/>
              </a:avLst>
            </a:prstGeom>
            <a:solidFill>
              <a:srgbClr val="B7B7B7"/>
            </a:solidFill>
            <a:ln>
              <a:noFill/>
            </a:ln>
            <a:effectLst>
              <a:reflection blurRad="0" dir="5400000" dist="38100" endA="0" endPos="30000" fadeDir="5400012" kx="0" rotWithShape="0" algn="bl" stPos="0" sy="-100000" ky="0"/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3214352" y="2460450"/>
              <a:ext cx="1418100" cy="143400"/>
            </a:xfrm>
            <a:prstGeom prst="parallelogram">
              <a:avLst>
                <a:gd fmla="val 96952" name="adj"/>
              </a:avLst>
            </a:prstGeom>
            <a:solidFill>
              <a:srgbClr val="8585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4"/>
            <p:cNvSpPr txBox="1"/>
            <p:nvPr/>
          </p:nvSpPr>
          <p:spPr>
            <a:xfrm>
              <a:off x="3187575" y="2682100"/>
              <a:ext cx="1471200" cy="11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 b="1" sz="10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149225" lvl="0" marL="142875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000"/>
                <a:buFont typeface="Roboto"/>
                <a:buChar char="●"/>
              </a:pPr>
              <a:r>
                <a:rPr b="1" lang="en" sz="10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Filter</a:t>
              </a:r>
              <a:endParaRPr b="1" sz="1000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149225" lvl="0" marL="142875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000"/>
                <a:buFont typeface="Roboto"/>
                <a:buChar char="●"/>
              </a:pPr>
              <a:r>
                <a:rPr b="1" lang="en" sz="10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Embedded  (RF importance)</a:t>
              </a:r>
              <a:endParaRPr b="1" sz="1000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149225" lvl="0" marL="142875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000"/>
                <a:buFont typeface="Roboto"/>
                <a:buChar char="●"/>
              </a:pPr>
              <a:r>
                <a:rPr b="1" lang="en" sz="10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Wrapper (RFE)</a:t>
              </a:r>
              <a:endParaRPr b="1" sz="1000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Results: </a:t>
              </a:r>
              <a:r>
                <a:rPr lang="en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Top 12 features</a:t>
              </a:r>
              <a:endParaRPr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" name="Google Shape;109;p14"/>
            <p:cNvSpPr txBox="1"/>
            <p:nvPr/>
          </p:nvSpPr>
          <p:spPr>
            <a:xfrm>
              <a:off x="3404700" y="3508600"/>
              <a:ext cx="1167300" cy="66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0" name="Google Shape;110;p14"/>
            <p:cNvSpPr txBox="1"/>
            <p:nvPr/>
          </p:nvSpPr>
          <p:spPr>
            <a:xfrm>
              <a:off x="2454674" y="1575825"/>
              <a:ext cx="14868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2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Feature Engineering</a:t>
              </a:r>
              <a:endParaRPr b="1" sz="1200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1" name="Google Shape;111;p14"/>
          <p:cNvGrpSpPr/>
          <p:nvPr/>
        </p:nvGrpSpPr>
        <p:grpSpPr>
          <a:xfrm>
            <a:off x="4038240" y="1575825"/>
            <a:ext cx="1891638" cy="2315205"/>
            <a:chOff x="4038240" y="1575825"/>
            <a:chExt cx="1891638" cy="2315205"/>
          </a:xfrm>
        </p:grpSpPr>
        <p:cxnSp>
          <p:nvCxnSpPr>
            <p:cNvPr id="112" name="Google Shape;112;p14"/>
            <p:cNvCxnSpPr/>
            <p:nvPr/>
          </p:nvCxnSpPr>
          <p:spPr>
            <a:xfrm>
              <a:off x="5192001" y="1695421"/>
              <a:ext cx="718500" cy="74190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3" name="Google Shape;113;p14"/>
            <p:cNvSpPr/>
            <p:nvPr/>
          </p:nvSpPr>
          <p:spPr>
            <a:xfrm flipH="1">
              <a:off x="4511544" y="2306625"/>
              <a:ext cx="1418100" cy="143400"/>
            </a:xfrm>
            <a:prstGeom prst="parallelogram">
              <a:avLst>
                <a:gd fmla="val 96952" name="adj"/>
              </a:avLst>
            </a:prstGeom>
            <a:solidFill>
              <a:srgbClr val="C2C2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114" name="Google Shape;114;p14"/>
            <p:cNvSpPr/>
            <p:nvPr/>
          </p:nvSpPr>
          <p:spPr>
            <a:xfrm>
              <a:off x="4511779" y="2460450"/>
              <a:ext cx="1418100" cy="143400"/>
            </a:xfrm>
            <a:prstGeom prst="parallelogram">
              <a:avLst>
                <a:gd fmla="val 96952" name="adj"/>
              </a:avLst>
            </a:prstGeom>
            <a:solidFill>
              <a:srgbClr val="8585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4"/>
            <p:cNvSpPr txBox="1"/>
            <p:nvPr/>
          </p:nvSpPr>
          <p:spPr>
            <a:xfrm>
              <a:off x="4619580" y="2696830"/>
              <a:ext cx="11673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Random Forest vs XGBoost</a:t>
              </a:r>
              <a:endParaRPr b="1" sz="1000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6" name="Google Shape;116;p14"/>
            <p:cNvSpPr txBox="1"/>
            <p:nvPr/>
          </p:nvSpPr>
          <p:spPr>
            <a:xfrm>
              <a:off x="4621740" y="3153630"/>
              <a:ext cx="11673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Model selected: </a:t>
              </a:r>
              <a:r>
                <a:rPr b="1" lang="en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XGBoost</a:t>
              </a:r>
              <a:endParaRPr b="1"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b="1"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7" name="Google Shape;117;p14"/>
            <p:cNvSpPr txBox="1"/>
            <p:nvPr/>
          </p:nvSpPr>
          <p:spPr>
            <a:xfrm>
              <a:off x="4038240" y="1575825"/>
              <a:ext cx="11979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2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Supervised Learning</a:t>
              </a:r>
              <a:endParaRPr b="1" sz="1200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8" name="Google Shape;118;p14"/>
          <p:cNvGrpSpPr/>
          <p:nvPr/>
        </p:nvGrpSpPr>
        <p:grpSpPr>
          <a:xfrm>
            <a:off x="5266626" y="1575825"/>
            <a:ext cx="1960410" cy="2315205"/>
            <a:chOff x="2672042" y="1575825"/>
            <a:chExt cx="1960410" cy="2315205"/>
          </a:xfrm>
        </p:grpSpPr>
        <p:cxnSp>
          <p:nvCxnSpPr>
            <p:cNvPr id="119" name="Google Shape;119;p14"/>
            <p:cNvCxnSpPr/>
            <p:nvPr/>
          </p:nvCxnSpPr>
          <p:spPr>
            <a:xfrm>
              <a:off x="3894575" y="1695421"/>
              <a:ext cx="718500" cy="74190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0" name="Google Shape;120;p14"/>
            <p:cNvSpPr/>
            <p:nvPr/>
          </p:nvSpPr>
          <p:spPr>
            <a:xfrm flipH="1">
              <a:off x="3214118" y="2306625"/>
              <a:ext cx="1418100" cy="143400"/>
            </a:xfrm>
            <a:prstGeom prst="parallelogram">
              <a:avLst>
                <a:gd fmla="val 96952" name="adj"/>
              </a:avLst>
            </a:prstGeom>
            <a:solidFill>
              <a:srgbClr val="C2C2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121" name="Google Shape;121;p14"/>
            <p:cNvSpPr/>
            <p:nvPr/>
          </p:nvSpPr>
          <p:spPr>
            <a:xfrm>
              <a:off x="3214352" y="2460450"/>
              <a:ext cx="1418100" cy="143400"/>
            </a:xfrm>
            <a:prstGeom prst="parallelogram">
              <a:avLst>
                <a:gd fmla="val 96952" name="adj"/>
              </a:avLst>
            </a:prstGeom>
            <a:solidFill>
              <a:srgbClr val="8585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4"/>
            <p:cNvSpPr txBox="1"/>
            <p:nvPr/>
          </p:nvSpPr>
          <p:spPr>
            <a:xfrm>
              <a:off x="3324920" y="2696830"/>
              <a:ext cx="11673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PCA</a:t>
              </a:r>
              <a:endParaRPr b="1" sz="1000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K-Means</a:t>
              </a:r>
              <a:endParaRPr b="1" sz="1000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3" name="Google Shape;123;p14"/>
            <p:cNvSpPr txBox="1"/>
            <p:nvPr/>
          </p:nvSpPr>
          <p:spPr>
            <a:xfrm>
              <a:off x="3327080" y="3153630"/>
              <a:ext cx="11673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Result: </a:t>
              </a:r>
              <a:r>
                <a:rPr b="1" lang="en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7 clusters</a:t>
              </a:r>
              <a:endParaRPr b="1"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4" name="Google Shape;124;p14"/>
            <p:cNvSpPr txBox="1"/>
            <p:nvPr/>
          </p:nvSpPr>
          <p:spPr>
            <a:xfrm>
              <a:off x="2672042" y="1575825"/>
              <a:ext cx="12696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2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Unsupervised Learning</a:t>
              </a:r>
              <a:endParaRPr b="1" sz="1200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5" name="Google Shape;125;p14"/>
          <p:cNvGrpSpPr/>
          <p:nvPr/>
        </p:nvGrpSpPr>
        <p:grpSpPr>
          <a:xfrm>
            <a:off x="6663355" y="1575825"/>
            <a:ext cx="2233695" cy="2115475"/>
            <a:chOff x="4068771" y="1575825"/>
            <a:chExt cx="2233695" cy="2115475"/>
          </a:xfrm>
        </p:grpSpPr>
        <p:cxnSp>
          <p:nvCxnSpPr>
            <p:cNvPr id="126" name="Google Shape;126;p14"/>
            <p:cNvCxnSpPr/>
            <p:nvPr/>
          </p:nvCxnSpPr>
          <p:spPr>
            <a:xfrm>
              <a:off x="5192001" y="1695421"/>
              <a:ext cx="718500" cy="74190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7" name="Google Shape;127;p14"/>
            <p:cNvSpPr/>
            <p:nvPr/>
          </p:nvSpPr>
          <p:spPr>
            <a:xfrm flipH="1">
              <a:off x="4511544" y="2306625"/>
              <a:ext cx="1418100" cy="143400"/>
            </a:xfrm>
            <a:prstGeom prst="parallelogram">
              <a:avLst>
                <a:gd fmla="val 96952" name="adj"/>
              </a:avLst>
            </a:prstGeom>
            <a:solidFill>
              <a:srgbClr val="0C57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128" name="Google Shape;128;p14"/>
            <p:cNvSpPr/>
            <p:nvPr/>
          </p:nvSpPr>
          <p:spPr>
            <a:xfrm>
              <a:off x="4511779" y="2460450"/>
              <a:ext cx="1418100" cy="143400"/>
            </a:xfrm>
            <a:prstGeom prst="parallelogram">
              <a:avLst>
                <a:gd fmla="val 96952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4"/>
            <p:cNvSpPr txBox="1"/>
            <p:nvPr/>
          </p:nvSpPr>
          <p:spPr>
            <a:xfrm>
              <a:off x="4511766" y="2682100"/>
              <a:ext cx="1790700" cy="100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Evaluation</a:t>
              </a:r>
              <a:endParaRPr b="1" sz="10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Insights</a:t>
              </a:r>
              <a:endParaRPr b="1" sz="10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Ethics</a:t>
              </a:r>
              <a:endParaRPr b="1" sz="10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Limitations</a:t>
              </a:r>
              <a:endParaRPr b="1" sz="10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Future Work</a:t>
              </a:r>
              <a:endParaRPr b="1" sz="10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0" name="Google Shape;130;p14"/>
            <p:cNvSpPr txBox="1"/>
            <p:nvPr/>
          </p:nvSpPr>
          <p:spPr>
            <a:xfrm>
              <a:off x="4068771" y="1575825"/>
              <a:ext cx="11673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2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Interpretation</a:t>
              </a:r>
              <a:endParaRPr b="1" sz="12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Questions</a:t>
            </a:r>
            <a:endParaRPr/>
          </a:p>
        </p:txBody>
      </p:sp>
      <p:sp>
        <p:nvSpPr>
          <p:cNvPr id="136" name="Google Shape;136;p15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5"/>
          <p:cNvSpPr txBox="1"/>
          <p:nvPr>
            <p:ph idx="2" type="body"/>
          </p:nvPr>
        </p:nvSpPr>
        <p:spPr>
          <a:xfrm>
            <a:off x="4940025" y="724200"/>
            <a:ext cx="3966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RQ1 — Supervised Learning</a:t>
            </a:r>
            <a:endParaRPr b="1"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"Can we classify a high-tipper passenger based on trip features (distance, time of day, day of week, rate code, passenger count) and weather conditions?"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RQ2 — Unsupervised Learning</a:t>
            </a:r>
            <a:endParaRPr b="1"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/>
              <a:t>"Can we identify distinct natural clusters of NYC taxi trips based on temporal and financial features to study customer behaviour?"</a:t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6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</a:t>
            </a:r>
            <a:endParaRPr/>
          </a:p>
        </p:txBody>
      </p:sp>
      <p:sp>
        <p:nvSpPr>
          <p:cNvPr id="143" name="Google Shape;143;p16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 vs. XGBoost</a:t>
            </a:r>
            <a:endParaRPr/>
          </a:p>
        </p:txBody>
      </p:sp>
      <p:sp>
        <p:nvSpPr>
          <p:cNvPr id="144" name="Google Shape;144;p16"/>
          <p:cNvSpPr txBox="1"/>
          <p:nvPr>
            <p:ph idx="2" type="body"/>
          </p:nvPr>
        </p:nvSpPr>
        <p:spPr>
          <a:xfrm>
            <a:off x="4705550" y="2571750"/>
            <a:ext cx="4263900" cy="20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285750" rtl="0" algn="just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Both models have similar performance metrics on test set.</a:t>
            </a:r>
            <a:endParaRPr sz="1600"/>
          </a:p>
          <a:p>
            <a:pPr indent="-330200" lvl="0" marL="285750" rtl="0" algn="just">
              <a:spcBef>
                <a:spcPts val="50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XGBoost</a:t>
            </a:r>
            <a:r>
              <a:rPr lang="en" sz="1600"/>
              <a:t> has higher AUC score, higher Average Precision, and faster training speed.</a:t>
            </a:r>
            <a:endParaRPr sz="1600"/>
          </a:p>
          <a:p>
            <a:pPr indent="-330200" lvl="0" marL="285750" rtl="0" algn="just">
              <a:spcBef>
                <a:spcPts val="5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Model Selected: </a:t>
            </a:r>
            <a:r>
              <a:rPr b="1" lang="en" sz="1600"/>
              <a:t>XGBoost</a:t>
            </a:r>
            <a:endParaRPr b="1" sz="1600"/>
          </a:p>
        </p:txBody>
      </p:sp>
      <p:pic>
        <p:nvPicPr>
          <p:cNvPr id="145" name="Google Shape;14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4050" y="934113"/>
            <a:ext cx="2054563" cy="150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66850" y="934124"/>
            <a:ext cx="2260111" cy="15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/>
          <p:cNvPicPr preferRelativeResize="0"/>
          <p:nvPr/>
        </p:nvPicPr>
        <p:blipFill rotWithShape="1">
          <a:blip r:embed="rId5">
            <a:alphaModFix/>
          </a:blip>
          <a:srcRect b="0" l="3007" r="0" t="0"/>
          <a:stretch/>
        </p:blipFill>
        <p:spPr>
          <a:xfrm>
            <a:off x="4659300" y="128100"/>
            <a:ext cx="4356399" cy="66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Insights</a:t>
            </a:r>
            <a:endParaRPr/>
          </a:p>
        </p:txBody>
      </p:sp>
      <p:sp>
        <p:nvSpPr>
          <p:cNvPr id="153" name="Google Shape;153;p17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NYC Yellow Taxi Records</a:t>
            </a:r>
            <a:endParaRPr/>
          </a:p>
        </p:txBody>
      </p:sp>
      <p:sp>
        <p:nvSpPr>
          <p:cNvPr id="154" name="Google Shape;154;p17"/>
          <p:cNvSpPr txBox="1"/>
          <p:nvPr>
            <p:ph idx="2" type="body"/>
          </p:nvPr>
        </p:nvSpPr>
        <p:spPr>
          <a:xfrm>
            <a:off x="4731300" y="200350"/>
            <a:ext cx="4045200" cy="47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Imbalance</a:t>
            </a:r>
            <a:r>
              <a:rPr b="1" lang="en"/>
              <a:t> Dataset</a:t>
            </a:r>
            <a:endParaRPr b="1"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RQ1 — Tipping Behaviour:</a:t>
            </a:r>
            <a:endParaRPr b="1"/>
          </a:p>
          <a:p>
            <a:pPr indent="-203200" lvl="1" marL="6858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XGBoost classifies high-tippers with 77 % accuracy (AUC 0.63)</a:t>
            </a:r>
            <a:endParaRPr/>
          </a:p>
          <a:p>
            <a:pPr indent="-203200" lvl="1" marL="6858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Tipping is driven by payment method and fare economics — not weather or time of day</a:t>
            </a:r>
            <a:endParaRPr/>
          </a:p>
          <a:p>
            <a:pPr indent="-203200" lvl="1" marL="6858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Expect higher tips on credit-card, high-fare, or airport-rate trips.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RQ2 — Trip Archetypes:</a:t>
            </a:r>
            <a:r>
              <a:rPr lang="en"/>
              <a:t> 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K-Means identifies </a:t>
            </a:r>
            <a:r>
              <a:rPr lang="en" sz="1400"/>
              <a:t>7 clusters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Clusters based on</a:t>
            </a:r>
            <a:endParaRPr sz="1400"/>
          </a:p>
          <a:p>
            <a:pPr indent="-317500" lvl="2" marL="1371600" rtl="0" algn="just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sz="1400"/>
              <a:t>short and medium city trips</a:t>
            </a:r>
            <a:endParaRPr/>
          </a:p>
          <a:p>
            <a:pPr indent="-317500" lvl="2" marL="1371600" rtl="0" algn="just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sz="1400"/>
              <a:t>a strong morning-commute</a:t>
            </a:r>
            <a:endParaRPr/>
          </a:p>
          <a:p>
            <a:pPr indent="-317500" lvl="2" marL="1371600" rtl="0" algn="just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sz="1400"/>
              <a:t>long-distance/airport </a:t>
            </a:r>
            <a:r>
              <a:rPr lang="en"/>
              <a:t>trips</a:t>
            </a:r>
            <a:endParaRPr/>
          </a:p>
          <a:p>
            <a:pPr indent="-317500" lvl="2" marL="1371600" rtl="0" algn="just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sz="1400"/>
              <a:t>a distinct rainy-day cluster </a:t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Ethics</a:t>
            </a:r>
            <a:endParaRPr/>
          </a:p>
        </p:txBody>
      </p:sp>
      <p:sp>
        <p:nvSpPr>
          <p:cNvPr id="160" name="Google Shape;160;p18"/>
          <p:cNvSpPr txBox="1"/>
          <p:nvPr>
            <p:ph idx="2" type="body"/>
          </p:nvPr>
        </p:nvSpPr>
        <p:spPr>
          <a:xfrm>
            <a:off x="4650325" y="200350"/>
            <a:ext cx="4334400" cy="436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Data Bias</a:t>
            </a:r>
            <a:endParaRPr b="1" sz="20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Handle outliers to keep models stable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Refine target by removing negative fares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Handle imbalance with Stratify K-Fold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Data Fairness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Credit Card users only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Partial View: The dataset is incomplete.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Limited Scope: Findings do not represent all NYC taxi users.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Data Privacy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No Personal Info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Location Anonymity (to protect trip routines)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Trend Focused (and not individual patterns)</a:t>
            </a:r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 txBox="1"/>
          <p:nvPr>
            <p:ph type="title"/>
          </p:nvPr>
        </p:nvSpPr>
        <p:spPr>
          <a:xfrm>
            <a:off x="265500" y="1770675"/>
            <a:ext cx="4045200" cy="94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>
            <a:off x="123900" y="2803575"/>
            <a:ext cx="4359000" cy="20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Class Imbalance:</a:t>
            </a:r>
            <a:r>
              <a:rPr lang="en" sz="1600"/>
              <a:t> 75/25 distribution causes low recall for 'Low Tip’.</a:t>
            </a:r>
            <a:endParaRPr sz="1600"/>
          </a:p>
          <a:p>
            <a:pPr indent="-330200" lvl="0" marL="457200" rtl="0" algn="l"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Noise:</a:t>
            </a:r>
            <a:r>
              <a:rPr lang="en" sz="1600"/>
              <a:t> Cash transactions introduce incomplete labels and missing data.</a:t>
            </a:r>
            <a:endParaRPr sz="1600"/>
          </a:p>
          <a:p>
            <a:pPr indent="-330200" lvl="0" marL="457200" rtl="0" algn="l"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b="1" lang="en" sz="1600">
                <a:solidFill>
                  <a:srgbClr val="000000"/>
                </a:solidFill>
              </a:rPr>
              <a:t>Non-Linearity:</a:t>
            </a:r>
            <a:r>
              <a:rPr lang="en" sz="1600">
                <a:solidFill>
                  <a:srgbClr val="000000"/>
                </a:solidFill>
              </a:rPr>
              <a:t> Data is not linearly separable, limiting </a:t>
            </a:r>
            <a:r>
              <a:rPr b="1" lang="en" sz="1600">
                <a:solidFill>
                  <a:srgbClr val="000000"/>
                </a:solidFill>
              </a:rPr>
              <a:t>K-Means</a:t>
            </a:r>
            <a:r>
              <a:rPr lang="en" sz="1600">
                <a:solidFill>
                  <a:srgbClr val="000000"/>
                </a:solidFill>
              </a:rPr>
              <a:t> effectiveness.</a:t>
            </a:r>
            <a:endParaRPr sz="1600"/>
          </a:p>
        </p:txBody>
      </p:sp>
      <p:sp>
        <p:nvSpPr>
          <p:cNvPr id="167" name="Google Shape;167;p19"/>
          <p:cNvSpPr txBox="1"/>
          <p:nvPr/>
        </p:nvSpPr>
        <p:spPr>
          <a:xfrm>
            <a:off x="4894900" y="1770675"/>
            <a:ext cx="3971700" cy="1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Future Work</a:t>
            </a:r>
            <a:endParaRPr sz="4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4894900" y="2715675"/>
            <a:ext cx="3835800" cy="13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Collect more data and unobserved variables (e.g., service quality)</a:t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Big Data (Polars or SQL)</a:t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Undersample Technique or SMOTE</a:t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oogle Shape;173;p20"/>
          <p:cNvGrpSpPr/>
          <p:nvPr/>
        </p:nvGrpSpPr>
        <p:grpSpPr>
          <a:xfrm>
            <a:off x="4939500" y="1219611"/>
            <a:ext cx="3837000" cy="2704200"/>
            <a:chOff x="4939500" y="1219611"/>
            <a:chExt cx="3837000" cy="2704200"/>
          </a:xfrm>
        </p:grpSpPr>
        <p:cxnSp>
          <p:nvCxnSpPr>
            <p:cNvPr id="174" name="Google Shape;174;p20"/>
            <p:cNvCxnSpPr/>
            <p:nvPr/>
          </p:nvCxnSpPr>
          <p:spPr>
            <a:xfrm>
              <a:off x="4939500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75" name="Google Shape;175;p20"/>
            <p:cNvCxnSpPr/>
            <p:nvPr/>
          </p:nvCxnSpPr>
          <p:spPr>
            <a:xfrm>
              <a:off x="5365833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76" name="Google Shape;176;p20"/>
            <p:cNvCxnSpPr/>
            <p:nvPr/>
          </p:nvCxnSpPr>
          <p:spPr>
            <a:xfrm>
              <a:off x="5792167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77" name="Google Shape;177;p20"/>
            <p:cNvCxnSpPr/>
            <p:nvPr/>
          </p:nvCxnSpPr>
          <p:spPr>
            <a:xfrm>
              <a:off x="6218500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78" name="Google Shape;178;p20"/>
            <p:cNvCxnSpPr/>
            <p:nvPr/>
          </p:nvCxnSpPr>
          <p:spPr>
            <a:xfrm>
              <a:off x="6644834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79" name="Google Shape;179;p20"/>
            <p:cNvCxnSpPr/>
            <p:nvPr/>
          </p:nvCxnSpPr>
          <p:spPr>
            <a:xfrm>
              <a:off x="7071166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80" name="Google Shape;180;p20"/>
            <p:cNvCxnSpPr/>
            <p:nvPr/>
          </p:nvCxnSpPr>
          <p:spPr>
            <a:xfrm>
              <a:off x="7497500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81" name="Google Shape;181;p20"/>
            <p:cNvCxnSpPr/>
            <p:nvPr/>
          </p:nvCxnSpPr>
          <p:spPr>
            <a:xfrm>
              <a:off x="7923834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82" name="Google Shape;182;p20"/>
            <p:cNvCxnSpPr/>
            <p:nvPr/>
          </p:nvCxnSpPr>
          <p:spPr>
            <a:xfrm>
              <a:off x="8350166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83" name="Google Shape;183;p20"/>
            <p:cNvCxnSpPr/>
            <p:nvPr/>
          </p:nvCxnSpPr>
          <p:spPr>
            <a:xfrm>
              <a:off x="8776500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  <p:sp>
        <p:nvSpPr>
          <p:cNvPr id="184" name="Google Shape;184;p20"/>
          <p:cNvSpPr/>
          <p:nvPr/>
        </p:nvSpPr>
        <p:spPr>
          <a:xfrm>
            <a:off x="7014920" y="2133119"/>
            <a:ext cx="286500" cy="2865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0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186" name="Google Shape;186;p20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Presented by: Team D</a:t>
            </a:r>
            <a:endParaRPr sz="1800"/>
          </a:p>
        </p:txBody>
      </p:sp>
      <p:grpSp>
        <p:nvGrpSpPr>
          <p:cNvPr id="187" name="Google Shape;187;p20"/>
          <p:cNvGrpSpPr/>
          <p:nvPr/>
        </p:nvGrpSpPr>
        <p:grpSpPr>
          <a:xfrm>
            <a:off x="4939534" y="2017046"/>
            <a:ext cx="3825543" cy="1573620"/>
            <a:chOff x="1000000" y="2393988"/>
            <a:chExt cx="4144235" cy="1704713"/>
          </a:xfrm>
        </p:grpSpPr>
        <p:sp>
          <p:nvSpPr>
            <p:cNvPr id="188" name="Google Shape;188;p20"/>
            <p:cNvSpPr/>
            <p:nvPr/>
          </p:nvSpPr>
          <p:spPr>
            <a:xfrm>
              <a:off x="1000000" y="2440003"/>
              <a:ext cx="4144235" cy="1631269"/>
            </a:xfrm>
            <a:custGeom>
              <a:rect b="b" l="l" r="r" t="t"/>
              <a:pathLst>
                <a:path extrusionOk="0" h="90088" w="165422">
                  <a:moveTo>
                    <a:pt x="0" y="65550"/>
                  </a:moveTo>
                  <a:cubicBezTo>
                    <a:pt x="3559" y="56002"/>
                    <a:pt x="14632" y="11595"/>
                    <a:pt x="21355" y="8262"/>
                  </a:cubicBezTo>
                  <a:cubicBezTo>
                    <a:pt x="28078" y="4929"/>
                    <a:pt x="34067" y="46906"/>
                    <a:pt x="40338" y="45550"/>
                  </a:cubicBezTo>
                  <a:cubicBezTo>
                    <a:pt x="46609" y="44194"/>
                    <a:pt x="52711" y="2161"/>
                    <a:pt x="58982" y="127"/>
                  </a:cubicBezTo>
                  <a:cubicBezTo>
                    <a:pt x="65253" y="-1907"/>
                    <a:pt x="71807" y="30974"/>
                    <a:pt x="77965" y="33347"/>
                  </a:cubicBezTo>
                  <a:cubicBezTo>
                    <a:pt x="84123" y="35720"/>
                    <a:pt x="90055" y="6285"/>
                    <a:pt x="95931" y="14364"/>
                  </a:cubicBezTo>
                  <a:cubicBezTo>
                    <a:pt x="101807" y="22443"/>
                    <a:pt x="107626" y="77414"/>
                    <a:pt x="113219" y="81821"/>
                  </a:cubicBezTo>
                  <a:cubicBezTo>
                    <a:pt x="118812" y="86228"/>
                    <a:pt x="123671" y="39448"/>
                    <a:pt x="129490" y="40804"/>
                  </a:cubicBezTo>
                  <a:cubicBezTo>
                    <a:pt x="135309" y="42160"/>
                    <a:pt x="142145" y="92047"/>
                    <a:pt x="148134" y="89957"/>
                  </a:cubicBezTo>
                  <a:cubicBezTo>
                    <a:pt x="154123" y="87867"/>
                    <a:pt x="162541" y="38545"/>
                    <a:pt x="165422" y="28262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oval"/>
              <a:tailEnd len="med" w="med" type="oval"/>
            </a:ln>
          </p:spPr>
        </p:sp>
        <p:sp>
          <p:nvSpPr>
            <p:cNvPr id="189" name="Google Shape;189;p20"/>
            <p:cNvSpPr/>
            <p:nvPr/>
          </p:nvSpPr>
          <p:spPr>
            <a:xfrm>
              <a:off x="4658400" y="4014100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0"/>
            <p:cNvSpPr/>
            <p:nvPr/>
          </p:nvSpPr>
          <p:spPr>
            <a:xfrm>
              <a:off x="4195525" y="3147350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20"/>
            <p:cNvSpPr/>
            <p:nvPr/>
          </p:nvSpPr>
          <p:spPr>
            <a:xfrm>
              <a:off x="3800700" y="3868900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0"/>
            <p:cNvSpPr/>
            <p:nvPr/>
          </p:nvSpPr>
          <p:spPr>
            <a:xfrm>
              <a:off x="3358650" y="2637813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0"/>
            <p:cNvSpPr/>
            <p:nvPr/>
          </p:nvSpPr>
          <p:spPr>
            <a:xfrm>
              <a:off x="2909400" y="2993013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0"/>
            <p:cNvSpPr/>
            <p:nvPr/>
          </p:nvSpPr>
          <p:spPr>
            <a:xfrm>
              <a:off x="2437450" y="2393988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0"/>
            <p:cNvSpPr/>
            <p:nvPr/>
          </p:nvSpPr>
          <p:spPr>
            <a:xfrm>
              <a:off x="1974575" y="3213325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0"/>
            <p:cNvSpPr/>
            <p:nvPr/>
          </p:nvSpPr>
          <p:spPr>
            <a:xfrm>
              <a:off x="1500000" y="2553225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7" name="Google Shape;197;p20"/>
          <p:cNvSpPr/>
          <p:nvPr/>
        </p:nvSpPr>
        <p:spPr>
          <a:xfrm>
            <a:off x="6847150" y="1577745"/>
            <a:ext cx="1179600" cy="343800"/>
          </a:xfrm>
          <a:prstGeom prst="wedgeRoundRectCallout">
            <a:avLst>
              <a:gd fmla="val -21432" name="adj1"/>
              <a:gd fmla="val 84969" name="adj2"/>
              <a:gd fmla="val 0" name="adj3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8" name="Google Shape;198;p20"/>
          <p:cNvGrpSpPr/>
          <p:nvPr/>
        </p:nvGrpSpPr>
        <p:grpSpPr>
          <a:xfrm>
            <a:off x="4939557" y="1778136"/>
            <a:ext cx="3836911" cy="1503799"/>
            <a:chOff x="1000025" y="2059300"/>
            <a:chExt cx="4156550" cy="1629075"/>
          </a:xfrm>
        </p:grpSpPr>
        <p:sp>
          <p:nvSpPr>
            <p:cNvPr id="199" name="Google Shape;199;p20"/>
            <p:cNvSpPr/>
            <p:nvPr/>
          </p:nvSpPr>
          <p:spPr>
            <a:xfrm>
              <a:off x="1000025" y="2083952"/>
              <a:ext cx="4156550" cy="1576975"/>
            </a:xfrm>
            <a:custGeom>
              <a:rect b="b" l="l" r="r" t="t"/>
              <a:pathLst>
                <a:path extrusionOk="0" h="63079" w="166262">
                  <a:moveTo>
                    <a:pt x="0" y="34952"/>
                  </a:moveTo>
                  <a:cubicBezTo>
                    <a:pt x="3623" y="29133"/>
                    <a:pt x="14946" y="1167"/>
                    <a:pt x="21740" y="37"/>
                  </a:cubicBezTo>
                  <a:cubicBezTo>
                    <a:pt x="28534" y="-1093"/>
                    <a:pt x="34478" y="24048"/>
                    <a:pt x="40762" y="28172"/>
                  </a:cubicBezTo>
                  <a:cubicBezTo>
                    <a:pt x="47046" y="32296"/>
                    <a:pt x="53256" y="18986"/>
                    <a:pt x="59446" y="24782"/>
                  </a:cubicBezTo>
                  <a:cubicBezTo>
                    <a:pt x="65636" y="30578"/>
                    <a:pt x="71730" y="60803"/>
                    <a:pt x="77901" y="62950"/>
                  </a:cubicBezTo>
                  <a:cubicBezTo>
                    <a:pt x="84072" y="65097"/>
                    <a:pt x="90490" y="39675"/>
                    <a:pt x="96472" y="37664"/>
                  </a:cubicBezTo>
                  <a:cubicBezTo>
                    <a:pt x="102455" y="35653"/>
                    <a:pt x="108078" y="54726"/>
                    <a:pt x="113796" y="50884"/>
                  </a:cubicBezTo>
                  <a:cubicBezTo>
                    <a:pt x="119514" y="47042"/>
                    <a:pt x="125063" y="18059"/>
                    <a:pt x="130781" y="14613"/>
                  </a:cubicBezTo>
                  <a:cubicBezTo>
                    <a:pt x="136499" y="11167"/>
                    <a:pt x="142192" y="30515"/>
                    <a:pt x="148105" y="30206"/>
                  </a:cubicBezTo>
                  <a:cubicBezTo>
                    <a:pt x="154019" y="29897"/>
                    <a:pt x="163236" y="15665"/>
                    <a:pt x="166262" y="12757"/>
                  </a:cubicBezTo>
                </a:path>
              </a:pathLst>
            </a:cu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oval"/>
              <a:tailEnd len="med" w="med" type="oval"/>
            </a:ln>
          </p:spPr>
        </p:sp>
        <p:sp>
          <p:nvSpPr>
            <p:cNvPr id="200" name="Google Shape;200;p20"/>
            <p:cNvSpPr/>
            <p:nvPr/>
          </p:nvSpPr>
          <p:spPr>
            <a:xfrm>
              <a:off x="1500000" y="2059300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0"/>
            <p:cNvSpPr/>
            <p:nvPr/>
          </p:nvSpPr>
          <p:spPr>
            <a:xfrm>
              <a:off x="1974575" y="273727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0"/>
            <p:cNvSpPr/>
            <p:nvPr/>
          </p:nvSpPr>
          <p:spPr>
            <a:xfrm>
              <a:off x="2437450" y="265267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0"/>
            <p:cNvSpPr/>
            <p:nvPr/>
          </p:nvSpPr>
          <p:spPr>
            <a:xfrm>
              <a:off x="2909400" y="360377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0"/>
            <p:cNvSpPr/>
            <p:nvPr/>
          </p:nvSpPr>
          <p:spPr>
            <a:xfrm>
              <a:off x="3358650" y="299302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0"/>
            <p:cNvSpPr/>
            <p:nvPr/>
          </p:nvSpPr>
          <p:spPr>
            <a:xfrm>
              <a:off x="3780700" y="331522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0"/>
            <p:cNvSpPr/>
            <p:nvPr/>
          </p:nvSpPr>
          <p:spPr>
            <a:xfrm>
              <a:off x="4216350" y="241217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0"/>
            <p:cNvSpPr/>
            <p:nvPr/>
          </p:nvSpPr>
          <p:spPr>
            <a:xfrm>
              <a:off x="4658400" y="2802450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8" name="Google Shape;208;p20"/>
          <p:cNvSpPr txBox="1"/>
          <p:nvPr>
            <p:ph idx="2" type="body"/>
          </p:nvPr>
        </p:nvSpPr>
        <p:spPr>
          <a:xfrm>
            <a:off x="6847150" y="1606395"/>
            <a:ext cx="1179600" cy="28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max growth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